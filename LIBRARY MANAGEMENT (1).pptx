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5" r:id="rId1"/>
  </p:sld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0" r:id="rId12"/>
    <p:sldId id="268" r:id="rId13"/>
    <p:sldId id="269" r:id="rId14"/>
    <p:sldId id="271" r:id="rId15"/>
    <p:sldId id="272" r:id="rId16"/>
    <p:sldId id="273" r:id="rId17"/>
    <p:sldId id="274" r:id="rId18"/>
  </p:sldIdLst>
  <p:sldSz cx="12192000" cy="6858000"/>
  <p:notesSz cx="6858000" cy="9144000"/>
  <p:embeddedFontLst>
    <p:embeddedFont>
      <p:font typeface="Goudy Old Style" panose="02020502050305020303" pitchFamily="18" charset="0"/>
      <p:regular r:id="rId19"/>
      <p:bold r:id="rId20"/>
      <p:italic r:id="rId21"/>
    </p:embeddedFont>
    <p:embeddedFont>
      <p:font typeface="Wingdings 2" panose="05020102010507070707" pitchFamily="18" charset="2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C96A8F-1C6D-41F2-8D50-1C35E8C5A1EE}" v="10" dt="2025-11-07T02:43:53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3" d="100"/>
          <a:sy n="83" d="100"/>
        </p:scale>
        <p:origin x="72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buNone/>
          </a:pPr>
          <a:r>
            <a:rPr lang="en-US" dirty="0"/>
            <a:t>*Developed the module to add </a:t>
          </a:r>
          <a:r>
            <a:rPr lang="en-US" b="1" dirty="0"/>
            <a:t>GOOGLE</a:t>
          </a:r>
          <a:r>
            <a:rPr lang="en-US" dirty="0"/>
            <a:t> </a:t>
          </a:r>
          <a:r>
            <a:rPr lang="en-US" b="1" dirty="0"/>
            <a:t>Library books</a:t>
          </a:r>
          <a:r>
            <a:rPr lang="en-US" dirty="0"/>
            <a:t> using Python.</a:t>
          </a:r>
        </a:p>
        <a:p>
          <a:pPr>
            <a:buNone/>
          </a:pPr>
          <a:r>
            <a:rPr lang="en-US" dirty="0"/>
            <a:t>*Implemented the </a:t>
          </a:r>
          <a:r>
            <a:rPr lang="en-US" b="1" dirty="0"/>
            <a:t>Login ID system</a:t>
          </a:r>
          <a:r>
            <a:rPr lang="en-US" dirty="0"/>
            <a:t> for user authentication.</a:t>
          </a:r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53742231-981F-480A-940F-203EC2F7423F}">
      <dgm:prSet/>
      <dgm:spPr/>
      <dgm:t>
        <a:bodyPr/>
        <a:lstStyle/>
        <a:p>
          <a:pPr>
            <a:buNone/>
          </a:pPr>
          <a:r>
            <a:rPr lang="en-US" dirty="0"/>
            <a:t>*Created the </a:t>
          </a:r>
          <a:r>
            <a:rPr lang="en-US" b="1" dirty="0"/>
            <a:t>Client Login</a:t>
          </a:r>
          <a:r>
            <a:rPr lang="en-US" dirty="0"/>
            <a:t> feature for users.</a:t>
          </a:r>
        </a:p>
        <a:p>
          <a:pPr>
            <a:buNone/>
          </a:pPr>
          <a:r>
            <a:rPr lang="en-US" dirty="0"/>
            <a:t>*Designed the </a:t>
          </a:r>
          <a:r>
            <a:rPr lang="en-US" b="1" dirty="0"/>
            <a:t>Menu-Driven Interface</a:t>
          </a:r>
          <a:r>
            <a:rPr lang="en-US" dirty="0"/>
            <a:t> for easy navigation.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buNone/>
          </a:pPr>
          <a:r>
            <a:rPr lang="en-US" dirty="0"/>
            <a:t>*Developed the </a:t>
          </a:r>
          <a:r>
            <a:rPr lang="en-US" b="1" dirty="0"/>
            <a:t>Search Functionality</a:t>
          </a:r>
          <a:r>
            <a:rPr lang="en-US" dirty="0"/>
            <a:t> to find books easily.</a:t>
          </a:r>
        </a:p>
        <a:p>
          <a:pPr>
            <a:buNone/>
          </a:pPr>
          <a:r>
            <a:rPr lang="en-US" dirty="0"/>
            <a:t>*Implemented the </a:t>
          </a:r>
          <a:r>
            <a:rPr lang="en-US" b="1" dirty="0"/>
            <a:t>Feedback System</a:t>
          </a:r>
          <a:r>
            <a:rPr lang="en-US" dirty="0"/>
            <a:t> for user reviews and suggestions.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DB4FEF-F0AD-44E2-8438-AE8A40AC6C6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C054FF0D-7245-4B06-9108-DAB81CBAF24E}">
      <dgm:prSet phldrT="[Text]" phldr="0" custT="1"/>
      <dgm:spPr/>
      <dgm:t>
        <a:bodyPr/>
        <a:lstStyle/>
        <a:p>
          <a:r>
            <a:rPr lang="en-US" sz="6600" dirty="0"/>
            <a:t>04</a:t>
          </a:r>
          <a:br>
            <a:rPr lang="en-US" sz="3400" dirty="0"/>
          </a:br>
          <a:r>
            <a:rPr lang="en-US" sz="3400" dirty="0"/>
            <a:t>*</a:t>
          </a:r>
          <a:r>
            <a:rPr lang="en-US" sz="2800" dirty="0"/>
            <a:t>Managed the </a:t>
          </a:r>
          <a:r>
            <a:rPr lang="en-US" sz="2800" b="1" dirty="0"/>
            <a:t>Admin Module</a:t>
          </a:r>
          <a:r>
            <a:rPr lang="en-US" sz="2800" dirty="0"/>
            <a:t> for overall control of the system.</a:t>
          </a:r>
        </a:p>
        <a:p>
          <a:pPr>
            <a:buNone/>
          </a:pPr>
          <a:r>
            <a:rPr lang="en-US" sz="2800" dirty="0"/>
            <a:t>*Implemented </a:t>
          </a:r>
          <a:r>
            <a:rPr lang="en-US" sz="2800" b="1" dirty="0"/>
            <a:t>Penalty Amount Calculation</a:t>
          </a:r>
          <a:r>
            <a:rPr lang="en-US" sz="2800" dirty="0"/>
            <a:t> for overdue books.</a:t>
          </a:r>
          <a:endParaRPr lang="en-AU" sz="2800" dirty="0"/>
        </a:p>
      </dgm:t>
    </dgm:pt>
    <dgm:pt modelId="{5D49E4C2-5C58-46B7-A10A-99E4B9DFDFDC}" type="parTrans" cxnId="{A946BE24-8088-42A4-BFDF-267116779656}">
      <dgm:prSet/>
      <dgm:spPr/>
      <dgm:t>
        <a:bodyPr/>
        <a:lstStyle/>
        <a:p>
          <a:endParaRPr lang="en-AU"/>
        </a:p>
      </dgm:t>
    </dgm:pt>
    <dgm:pt modelId="{8D446198-077B-4FB3-8494-9104FFBDE2E2}" type="sibTrans" cxnId="{A946BE24-8088-42A4-BFDF-267116779656}">
      <dgm:prSet/>
      <dgm:spPr/>
      <dgm:t>
        <a:bodyPr/>
        <a:lstStyle/>
        <a:p>
          <a:endParaRPr lang="en-AU"/>
        </a:p>
      </dgm:t>
    </dgm:pt>
    <dgm:pt modelId="{45695993-536E-45F2-A09F-DD9B5A4233A5}">
      <dgm:prSet phldrT="[Text]" phldr="0" custT="1"/>
      <dgm:spPr/>
      <dgm:t>
        <a:bodyPr/>
        <a:lstStyle/>
        <a:p>
          <a:r>
            <a:rPr lang="en-US" sz="6600" dirty="0"/>
            <a:t>05</a:t>
          </a:r>
          <a:br>
            <a:rPr lang="en-US" sz="3300" dirty="0"/>
          </a:br>
          <a:r>
            <a:rPr lang="en-US" sz="3300" dirty="0"/>
            <a:t>*</a:t>
          </a:r>
          <a:r>
            <a:rPr lang="en-US" sz="2800" dirty="0"/>
            <a:t>Created the feature for </a:t>
          </a:r>
          <a:r>
            <a:rPr lang="en-US" sz="2800" b="1" dirty="0"/>
            <a:t>Due Date Extension</a:t>
          </a:r>
          <a:r>
            <a:rPr lang="en-US" sz="2800" dirty="0"/>
            <a:t> of borrowed books.</a:t>
          </a:r>
        </a:p>
        <a:p>
          <a:pPr>
            <a:buNone/>
          </a:pPr>
          <a:r>
            <a:rPr lang="en-US" sz="2800" dirty="0"/>
            <a:t>*Developed the </a:t>
          </a:r>
          <a:r>
            <a:rPr lang="en-US" sz="2800" b="1" dirty="0"/>
            <a:t>Borrow History</a:t>
          </a:r>
          <a:r>
            <a:rPr lang="en-US" sz="2800" dirty="0"/>
            <a:t> module to track user activity.</a:t>
          </a:r>
          <a:endParaRPr lang="en-AU" sz="2800" dirty="0"/>
        </a:p>
      </dgm:t>
    </dgm:pt>
    <dgm:pt modelId="{BE79C9B1-0320-44B4-AF41-CF10114AEF84}" type="parTrans" cxnId="{03F38757-A975-412C-BF2E-1BF3117F3886}">
      <dgm:prSet/>
      <dgm:spPr/>
      <dgm:t>
        <a:bodyPr/>
        <a:lstStyle/>
        <a:p>
          <a:endParaRPr lang="en-AU"/>
        </a:p>
      </dgm:t>
    </dgm:pt>
    <dgm:pt modelId="{120B31A7-10C5-480D-989F-E619A1602700}" type="sibTrans" cxnId="{03F38757-A975-412C-BF2E-1BF3117F3886}">
      <dgm:prSet/>
      <dgm:spPr/>
      <dgm:t>
        <a:bodyPr/>
        <a:lstStyle/>
        <a:p>
          <a:endParaRPr lang="en-AU"/>
        </a:p>
      </dgm:t>
    </dgm:pt>
    <dgm:pt modelId="{73E3C013-E608-4B24-8A1F-103449447231}" type="pres">
      <dgm:prSet presAssocID="{0DDB4FEF-F0AD-44E2-8438-AE8A40AC6C6C}" presName="diagram" presStyleCnt="0">
        <dgm:presLayoutVars>
          <dgm:dir/>
          <dgm:resizeHandles val="exact"/>
        </dgm:presLayoutVars>
      </dgm:prSet>
      <dgm:spPr/>
    </dgm:pt>
    <dgm:pt modelId="{3131B427-F6D3-42D6-87DC-2E101262880F}" type="pres">
      <dgm:prSet presAssocID="{C054FF0D-7245-4B06-9108-DAB81CBAF24E}" presName="node" presStyleLbl="node1" presStyleIdx="0" presStyleCnt="2" custScaleY="125606" custLinFactNeighborX="-133" custLinFactNeighborY="-32826">
        <dgm:presLayoutVars>
          <dgm:bulletEnabled val="1"/>
        </dgm:presLayoutVars>
      </dgm:prSet>
      <dgm:spPr/>
    </dgm:pt>
    <dgm:pt modelId="{99BD91A8-8B0D-4D44-9EA9-50D065DFA9D7}" type="pres">
      <dgm:prSet presAssocID="{8D446198-077B-4FB3-8494-9104FFBDE2E2}" presName="sibTrans" presStyleCnt="0"/>
      <dgm:spPr/>
    </dgm:pt>
    <dgm:pt modelId="{D4EE27A4-11F5-4336-8AA1-97432907D971}" type="pres">
      <dgm:prSet presAssocID="{45695993-536E-45F2-A09F-DD9B5A4233A5}" presName="node" presStyleLbl="node1" presStyleIdx="1" presStyleCnt="2" custScaleY="125305">
        <dgm:presLayoutVars>
          <dgm:bulletEnabled val="1"/>
        </dgm:presLayoutVars>
      </dgm:prSet>
      <dgm:spPr/>
    </dgm:pt>
  </dgm:ptLst>
  <dgm:cxnLst>
    <dgm:cxn modelId="{A946BE24-8088-42A4-BFDF-267116779656}" srcId="{0DDB4FEF-F0AD-44E2-8438-AE8A40AC6C6C}" destId="{C054FF0D-7245-4B06-9108-DAB81CBAF24E}" srcOrd="0" destOrd="0" parTransId="{5D49E4C2-5C58-46B7-A10A-99E4B9DFDFDC}" sibTransId="{8D446198-077B-4FB3-8494-9104FFBDE2E2}"/>
    <dgm:cxn modelId="{63F93E39-DF82-4CFE-9297-3BF207F34CF2}" type="presOf" srcId="{C054FF0D-7245-4B06-9108-DAB81CBAF24E}" destId="{3131B427-F6D3-42D6-87DC-2E101262880F}" srcOrd="0" destOrd="0" presId="urn:microsoft.com/office/officeart/2005/8/layout/default"/>
    <dgm:cxn modelId="{03F38757-A975-412C-BF2E-1BF3117F3886}" srcId="{0DDB4FEF-F0AD-44E2-8438-AE8A40AC6C6C}" destId="{45695993-536E-45F2-A09F-DD9B5A4233A5}" srcOrd="1" destOrd="0" parTransId="{BE79C9B1-0320-44B4-AF41-CF10114AEF84}" sibTransId="{120B31A7-10C5-480D-989F-E619A1602700}"/>
    <dgm:cxn modelId="{5059385A-35CA-478D-9CBD-1D00BA7F1CA1}" type="presOf" srcId="{45695993-536E-45F2-A09F-DD9B5A4233A5}" destId="{D4EE27A4-11F5-4336-8AA1-97432907D971}" srcOrd="0" destOrd="0" presId="urn:microsoft.com/office/officeart/2005/8/layout/default"/>
    <dgm:cxn modelId="{D30D67F8-C003-4BF7-9580-8B6D2DA6E518}" type="presOf" srcId="{0DDB4FEF-F0AD-44E2-8438-AE8A40AC6C6C}" destId="{73E3C013-E608-4B24-8A1F-103449447231}" srcOrd="0" destOrd="0" presId="urn:microsoft.com/office/officeart/2005/8/layout/default"/>
    <dgm:cxn modelId="{3432AAF5-9D7C-4AF3-AD89-62F51C35B107}" type="presParOf" srcId="{73E3C013-E608-4B24-8A1F-103449447231}" destId="{3131B427-F6D3-42D6-87DC-2E101262880F}" srcOrd="0" destOrd="0" presId="urn:microsoft.com/office/officeart/2005/8/layout/default"/>
    <dgm:cxn modelId="{87FF455F-4734-4526-8BA1-111737C3B59E}" type="presParOf" srcId="{73E3C013-E608-4B24-8A1F-103449447231}" destId="{99BD91A8-8B0D-4D44-9EA9-50D065DFA9D7}" srcOrd="1" destOrd="0" presId="urn:microsoft.com/office/officeart/2005/8/layout/default"/>
    <dgm:cxn modelId="{A46322C6-7CE6-47D8-9736-E6346F1F0A71}" type="presParOf" srcId="{73E3C013-E608-4B24-8A1F-103449447231}" destId="{D4EE27A4-11F5-4336-8AA1-97432907D971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*Developed the module to add </a:t>
          </a:r>
          <a:r>
            <a:rPr lang="en-US" sz="2000" b="1" kern="1200" dirty="0"/>
            <a:t>GOOGLE</a:t>
          </a:r>
          <a:r>
            <a:rPr lang="en-US" sz="2000" kern="1200" dirty="0"/>
            <a:t> </a:t>
          </a:r>
          <a:r>
            <a:rPr lang="en-US" sz="2000" b="1" kern="1200" dirty="0"/>
            <a:t>Library books</a:t>
          </a:r>
          <a:r>
            <a:rPr lang="en-US" sz="2000" kern="1200" dirty="0"/>
            <a:t> using Python.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*Implemented the </a:t>
          </a:r>
          <a:r>
            <a:rPr lang="en-US" sz="2000" b="1" kern="1200" dirty="0"/>
            <a:t>Login ID system</a:t>
          </a:r>
          <a:r>
            <a:rPr lang="en-US" sz="2000" kern="1200" dirty="0"/>
            <a:t> for user authentication.</a:t>
          </a: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*Created the </a:t>
          </a:r>
          <a:r>
            <a:rPr lang="en-US" sz="2000" b="1" kern="1200" dirty="0"/>
            <a:t>Client Login</a:t>
          </a:r>
          <a:r>
            <a:rPr lang="en-US" sz="2000" kern="1200" dirty="0"/>
            <a:t> feature for users.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*Designed the </a:t>
          </a:r>
          <a:r>
            <a:rPr lang="en-US" sz="2000" b="1" kern="1200" dirty="0"/>
            <a:t>Menu-Driven Interface</a:t>
          </a:r>
          <a:r>
            <a:rPr lang="en-US" sz="2000" kern="1200" dirty="0"/>
            <a:t> for easy navigation.</a:t>
          </a: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*Developed the </a:t>
          </a:r>
          <a:r>
            <a:rPr lang="en-US" sz="2000" b="1" kern="1200" dirty="0"/>
            <a:t>Search Functionality</a:t>
          </a:r>
          <a:r>
            <a:rPr lang="en-US" sz="2000" kern="1200" dirty="0"/>
            <a:t> to find books easily.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*Implemented the </a:t>
          </a:r>
          <a:r>
            <a:rPr lang="en-US" sz="2000" b="1" kern="1200" dirty="0"/>
            <a:t>Feedback System</a:t>
          </a:r>
          <a:r>
            <a:rPr lang="en-US" sz="2000" kern="1200" dirty="0"/>
            <a:t> for user reviews and suggestions.</a:t>
          </a: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76898" y="0"/>
        <a:ext cx="3275967" cy="14859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31B427-F6D3-42D6-87DC-2E101262880F}">
      <dsp:nvSpPr>
        <dsp:cNvPr id="0" name=""/>
        <dsp:cNvSpPr/>
      </dsp:nvSpPr>
      <dsp:spPr>
        <a:xfrm>
          <a:off x="23" y="0"/>
          <a:ext cx="4924062" cy="37109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460" tIns="251460" rIns="251460" bIns="251460" numCol="1" spcCol="1270" anchor="ctr" anchorCtr="0">
          <a:noAutofit/>
        </a:bodyPr>
        <a:lstStyle/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 dirty="0"/>
            <a:t>04</a:t>
          </a:r>
          <a:br>
            <a:rPr lang="en-US" sz="3400" kern="1200" dirty="0"/>
          </a:br>
          <a:r>
            <a:rPr lang="en-US" sz="3400" kern="1200" dirty="0"/>
            <a:t>*</a:t>
          </a:r>
          <a:r>
            <a:rPr lang="en-US" sz="2800" kern="1200" dirty="0"/>
            <a:t>Managed the </a:t>
          </a:r>
          <a:r>
            <a:rPr lang="en-US" sz="2800" b="1" kern="1200" dirty="0"/>
            <a:t>Admin Module</a:t>
          </a:r>
          <a:r>
            <a:rPr lang="en-US" sz="2800" kern="1200" dirty="0"/>
            <a:t> for overall control of the system.</a:t>
          </a:r>
        </a:p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*Implemented </a:t>
          </a:r>
          <a:r>
            <a:rPr lang="en-US" sz="2800" b="1" kern="1200" dirty="0"/>
            <a:t>Penalty Amount Calculation</a:t>
          </a:r>
          <a:r>
            <a:rPr lang="en-US" sz="2800" kern="1200" dirty="0"/>
            <a:t> for overdue books.</a:t>
          </a:r>
          <a:endParaRPr lang="en-AU" sz="2800" kern="1200" dirty="0"/>
        </a:p>
      </dsp:txBody>
      <dsp:txXfrm>
        <a:off x="23" y="0"/>
        <a:ext cx="4924062" cy="3710950"/>
      </dsp:txXfrm>
    </dsp:sp>
    <dsp:sp modelId="{D4EE27A4-11F5-4336-8AA1-97432907D971}">
      <dsp:nvSpPr>
        <dsp:cNvPr id="0" name=""/>
        <dsp:cNvSpPr/>
      </dsp:nvSpPr>
      <dsp:spPr>
        <a:xfrm>
          <a:off x="5423040" y="6346"/>
          <a:ext cx="4924062" cy="37020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460" tIns="251460" rIns="251460" bIns="251460" numCol="1" spcCol="1270" anchor="ctr" anchorCtr="0">
          <a:noAutofit/>
        </a:bodyPr>
        <a:lstStyle/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 dirty="0"/>
            <a:t>05</a:t>
          </a:r>
          <a:br>
            <a:rPr lang="en-US" sz="3300" kern="1200" dirty="0"/>
          </a:br>
          <a:r>
            <a:rPr lang="en-US" sz="3300" kern="1200" dirty="0"/>
            <a:t>*</a:t>
          </a:r>
          <a:r>
            <a:rPr lang="en-US" sz="2800" kern="1200" dirty="0"/>
            <a:t>Created the feature for </a:t>
          </a:r>
          <a:r>
            <a:rPr lang="en-US" sz="2800" b="1" kern="1200" dirty="0"/>
            <a:t>Due Date Extension</a:t>
          </a:r>
          <a:r>
            <a:rPr lang="en-US" sz="2800" kern="1200" dirty="0"/>
            <a:t> of borrowed books.</a:t>
          </a:r>
        </a:p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*Developed the </a:t>
          </a:r>
          <a:r>
            <a:rPr lang="en-US" sz="2800" b="1" kern="1200" dirty="0"/>
            <a:t>Borrow History</a:t>
          </a:r>
          <a:r>
            <a:rPr lang="en-US" sz="2800" kern="1200" dirty="0"/>
            <a:t> module to track user activity.</a:t>
          </a:r>
          <a:endParaRPr lang="en-AU" sz="2800" kern="1200" dirty="0"/>
        </a:p>
      </dsp:txBody>
      <dsp:txXfrm>
        <a:off x="5423040" y="6346"/>
        <a:ext cx="4924062" cy="37020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anchor="ctr">
            <a:normAutofit/>
          </a:bodyPr>
          <a:lstStyle/>
          <a:p>
            <a:r>
              <a:rPr lang="en-US" dirty="0"/>
              <a:t>LIBRARY MANAGEMENT SYSTEM</a:t>
            </a:r>
          </a:p>
        </p:txBody>
      </p:sp>
      <p:pic>
        <p:nvPicPr>
          <p:cNvPr id="6" name="Picture 5" descr="A stack of books on a table in a library&#10;&#10;AI-generated content may be incorrect.">
            <a:extLst>
              <a:ext uri="{FF2B5EF4-FFF2-40B4-BE49-F238E27FC236}">
                <a16:creationId xmlns:a16="http://schemas.microsoft.com/office/drawing/2014/main" id="{A1093B80-BCF8-6789-08B6-5872E494BA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72" r="-2" b="31475"/>
          <a:stretch>
            <a:fillRect/>
          </a:stretch>
        </p:blipFill>
        <p:spPr>
          <a:xfrm>
            <a:off x="913795" y="2076450"/>
            <a:ext cx="10353762" cy="37147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TEAM</a:t>
            </a:r>
            <a:r>
              <a:rPr lang="en-AU" dirty="0">
                <a:effectLst/>
              </a:rPr>
              <a:t> </a:t>
            </a:r>
            <a:r>
              <a:rPr lang="en-AU" sz="4400" dirty="0">
                <a:effectLst/>
              </a:rPr>
              <a:t>CONTRIBUTION</a:t>
            </a:r>
            <a:endParaRPr lang="en-US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8792189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005B-95B2-FE7C-4125-9B91EA3BB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452582"/>
            <a:ext cx="10353762" cy="1257300"/>
          </a:xfrm>
        </p:spPr>
        <p:txBody>
          <a:bodyPr/>
          <a:lstStyle/>
          <a:p>
            <a:endParaRPr lang="en-AU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02D69B0-7404-C7C0-DCB3-CB65D8FA2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700081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5458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43E1E-CA7E-A6BD-03F1-86E43292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874923"/>
          </a:xfrm>
        </p:spPr>
        <p:txBody>
          <a:bodyPr/>
          <a:lstStyle/>
          <a:p>
            <a:r>
              <a:rPr lang="en-US" dirty="0"/>
              <a:t>INTRODUCTION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89173-AB4D-6DFB-32A6-6E5B04B3E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4" y="1737360"/>
            <a:ext cx="10353763" cy="4059646"/>
          </a:xfrm>
        </p:spPr>
        <p:txBody>
          <a:bodyPr>
            <a:normAutofit/>
          </a:bodyPr>
          <a:lstStyle/>
          <a:p>
            <a:r>
              <a:rPr lang="en-US" sz="2800" dirty="0"/>
              <a:t>The </a:t>
            </a:r>
            <a:r>
              <a:rPr lang="en-US" sz="2800" b="1" dirty="0"/>
              <a:t>Library Management System</a:t>
            </a:r>
            <a:r>
              <a:rPr lang="en-US" sz="2800" dirty="0"/>
              <a:t> is a Python-based application designed to simplify and automate the day-to-day operations of a library.</a:t>
            </a:r>
            <a:br>
              <a:rPr lang="en-US" sz="2800" dirty="0"/>
            </a:br>
            <a:r>
              <a:rPr lang="en-US" sz="2800" dirty="0"/>
              <a:t>It helps in managing books, user information, borrowing and returning processes, and fine calculation in an efficient way.</a:t>
            </a:r>
            <a:br>
              <a:rPr lang="en-US" sz="2800" dirty="0"/>
            </a:br>
            <a:r>
              <a:rPr lang="en-US" sz="2800" dirty="0"/>
              <a:t>The system allows users to easily search, borrow, and return books, while the admin can monitor records, penalties, and feedback.</a:t>
            </a:r>
            <a:br>
              <a:rPr lang="en-US" sz="2800" dirty="0"/>
            </a:br>
            <a:r>
              <a:rPr lang="en-US" sz="2800" dirty="0"/>
              <a:t>By using this system, the traditional manual library work is replaced with a digital and organized method that saves time and reduces errors.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41427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F733-F723-DF5F-6F64-F5A46096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1017163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Tools and Technologies Used</a:t>
            </a:r>
            <a:br>
              <a:rPr lang="en-AU" b="1" dirty="0"/>
            </a:b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599DD-9E37-6CA7-5C1F-1486C1103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4" y="1930400"/>
            <a:ext cx="10353763" cy="386660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AU" sz="2000" b="1" dirty="0"/>
              <a:t>Programming Language: </a:t>
            </a:r>
            <a:r>
              <a:rPr lang="en-AU" sz="2000" dirty="0"/>
              <a:t>Python</a:t>
            </a:r>
          </a:p>
          <a:p>
            <a:pPr algn="l"/>
            <a:r>
              <a:rPr lang="en-AU" sz="2000" b="1" dirty="0"/>
              <a:t>Libraries/Modules Used:</a:t>
            </a:r>
            <a:endParaRPr lang="en-AU" sz="2000" dirty="0"/>
          </a:p>
          <a:p>
            <a:pPr lvl="1"/>
            <a:r>
              <a:rPr lang="en-AU" sz="2000" dirty="0"/>
              <a:t>csv – for storing and managing data</a:t>
            </a:r>
          </a:p>
          <a:p>
            <a:pPr lvl="1"/>
            <a:r>
              <a:rPr lang="en-AU" sz="2000" dirty="0"/>
              <a:t>datetime – for handling due dates and penalties</a:t>
            </a:r>
          </a:p>
          <a:p>
            <a:pPr lvl="1"/>
            <a:r>
              <a:rPr lang="en-AU" sz="2000" dirty="0" err="1"/>
              <a:t>os</a:t>
            </a:r>
            <a:r>
              <a:rPr lang="en-AU" sz="2000" dirty="0"/>
              <a:t> – for file operations and interface clearing</a:t>
            </a:r>
          </a:p>
          <a:p>
            <a:pPr lvl="1"/>
            <a:endParaRPr lang="en-AU" sz="2000" dirty="0"/>
          </a:p>
          <a:p>
            <a:pPr algn="l"/>
            <a:r>
              <a:rPr lang="en-AU" sz="2000" b="1" dirty="0"/>
              <a:t>Data Storage:</a:t>
            </a:r>
            <a:r>
              <a:rPr lang="en-AU" sz="2000" dirty="0"/>
              <a:t> CSV files (used as a local database)</a:t>
            </a:r>
          </a:p>
          <a:p>
            <a:pPr algn="l"/>
            <a:r>
              <a:rPr lang="en-AU" sz="2000" b="1" dirty="0"/>
              <a:t>IDE / Code Editor:</a:t>
            </a:r>
            <a:r>
              <a:rPr lang="en-AU" sz="2000" dirty="0"/>
              <a:t> Visual Studio Code (VS Code)</a:t>
            </a:r>
          </a:p>
          <a:p>
            <a:pPr algn="l"/>
            <a:r>
              <a:rPr lang="en-AU" sz="2000" b="1" dirty="0"/>
              <a:t>Platform:</a:t>
            </a:r>
            <a:r>
              <a:rPr lang="en-AU" sz="2000" dirty="0"/>
              <a:t> Windows / Linux (cross-platform compatible)</a:t>
            </a:r>
          </a:p>
          <a:p>
            <a:pPr algn="l"/>
            <a:r>
              <a:rPr lang="en-AU" sz="2000" b="1" dirty="0"/>
              <a:t>Version Control (Optional):</a:t>
            </a:r>
            <a:r>
              <a:rPr lang="en-AU" sz="2000" dirty="0"/>
              <a:t> Git / GitHub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994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40B0A-3FC5-E774-DC52-C778B5999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078" y="258861"/>
            <a:ext cx="10353762" cy="1257300"/>
          </a:xfrm>
        </p:spPr>
        <p:txBody>
          <a:bodyPr/>
          <a:lstStyle/>
          <a:p>
            <a:r>
              <a:rPr lang="en-US" dirty="0"/>
              <a:t>FLOW CHART 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CF4372-30A6-15B9-C1CB-EB8F7F6A0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1127761"/>
            <a:ext cx="9377679" cy="543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1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ADB7B-735A-9996-0904-BF0656073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913795" y="548640"/>
            <a:ext cx="10353762" cy="59797"/>
          </a:xfrm>
        </p:spPr>
        <p:txBody>
          <a:bodyPr>
            <a:normAutofit fontScale="90000"/>
          </a:bodyPr>
          <a:lstStyle/>
          <a:p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C7775E-FC44-5BEA-0CEA-BE224189B91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14400" y="997020"/>
            <a:ext cx="622808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/ Register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(Student, Faculty, or Admin)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Display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Add GOOGLE Library 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Search 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Borrow / Return 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Extend Due 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View Borrow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Exit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Selected Operation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or Update Data in CSV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 to Main Menu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Exit / End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275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CCEC-8FB8-C274-580D-054649502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03" y="353560"/>
            <a:ext cx="10353763" cy="791749"/>
          </a:xfrm>
        </p:spPr>
        <p:txBody>
          <a:bodyPr/>
          <a:lstStyle/>
          <a:p>
            <a:r>
              <a:rPr lang="en-AU" b="1" dirty="0"/>
              <a:t>Working /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E69D2-B25C-FB96-19FC-31DCB79C8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84" y="1394691"/>
            <a:ext cx="10352199" cy="439650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Library Management System</a:t>
            </a:r>
            <a:r>
              <a:rPr lang="en-US" dirty="0"/>
              <a:t> is implemented using the </a:t>
            </a:r>
            <a:r>
              <a:rPr lang="en-US" b="1" dirty="0"/>
              <a:t>Python programming language</a:t>
            </a:r>
            <a:r>
              <a:rPr lang="en-US" dirty="0"/>
              <a:t>, which provides simplicity, flexibility, and ease of handling data.</a:t>
            </a:r>
            <a:br>
              <a:rPr lang="en-US" dirty="0"/>
            </a:br>
            <a:r>
              <a:rPr lang="en-US" dirty="0"/>
              <a:t>All information such as </a:t>
            </a:r>
            <a:r>
              <a:rPr lang="en-US" b="1" dirty="0"/>
              <a:t>book details, user data, borrow records, penalties, and feedback</a:t>
            </a:r>
            <a:r>
              <a:rPr lang="en-US" dirty="0"/>
              <a:t> are stored in </a:t>
            </a:r>
            <a:r>
              <a:rPr lang="en-US" b="1" dirty="0"/>
              <a:t>CSV (Comma-Separated Values) files</a:t>
            </a:r>
            <a:r>
              <a:rPr lang="en-US" dirty="0"/>
              <a:t>, which act as the project’s local database.</a:t>
            </a:r>
          </a:p>
          <a:p>
            <a:r>
              <a:rPr lang="en-US" dirty="0"/>
              <a:t>The system provides </a:t>
            </a:r>
            <a:r>
              <a:rPr lang="en-US" b="1" dirty="0"/>
              <a:t>separate access levels</a:t>
            </a:r>
            <a:r>
              <a:rPr lang="en-US" dirty="0"/>
              <a:t> for different types of users — </a:t>
            </a:r>
            <a:r>
              <a:rPr lang="en-US" b="1" dirty="0"/>
              <a:t>Admins</a:t>
            </a:r>
            <a:r>
              <a:rPr lang="en-US" dirty="0"/>
              <a:t> and </a:t>
            </a:r>
            <a:r>
              <a:rPr lang="en-US" b="1" dirty="0"/>
              <a:t>Students/Faculty (Clients)</a:t>
            </a:r>
            <a:r>
              <a:rPr lang="en-US" dirty="0"/>
              <a:t>.</a:t>
            </a:r>
          </a:p>
          <a:p>
            <a:r>
              <a:rPr lang="en-US" b="1" dirty="0"/>
              <a:t>Admins</a:t>
            </a:r>
            <a:r>
              <a:rPr lang="en-US" dirty="0"/>
              <a:t> have complete control over the system. They can add new books from the GOOGLE Library, manage users, view borrow history, extend due dates, and handle penalty calculations.</a:t>
            </a:r>
          </a:p>
          <a:p>
            <a:r>
              <a:rPr lang="en-US" b="1" dirty="0"/>
              <a:t>Users (Students/Faculty)</a:t>
            </a:r>
            <a:r>
              <a:rPr lang="en-US" dirty="0"/>
              <a:t> can log in to search for books, borrow and return them, request due date extensions, and provide feedback.</a:t>
            </a:r>
          </a:p>
          <a:p>
            <a:r>
              <a:rPr lang="en-US" dirty="0"/>
              <a:t>The program uses a </a:t>
            </a:r>
            <a:r>
              <a:rPr lang="en-US" b="1" dirty="0"/>
              <a:t>menu-driven interface</a:t>
            </a:r>
            <a:r>
              <a:rPr lang="en-US" dirty="0"/>
              <a:t>, allowing users to easily navigate through different options.</a:t>
            </a:r>
            <a:br>
              <a:rPr lang="en-US" dirty="0"/>
            </a:br>
            <a:r>
              <a:rPr lang="en-US" dirty="0"/>
              <a:t>Each operation (like adding a book, borrowing, or returning) automatically updates the corresponding </a:t>
            </a:r>
            <a:r>
              <a:rPr lang="en-US" b="1" dirty="0"/>
              <a:t>CSV file</a:t>
            </a:r>
            <a:r>
              <a:rPr lang="en-US" dirty="0"/>
              <a:t>, ensuring that all records are accurate and up to date.</a:t>
            </a:r>
          </a:p>
          <a:p>
            <a:r>
              <a:rPr lang="en-US" dirty="0"/>
              <a:t>This implementation makes the system </a:t>
            </a:r>
            <a:r>
              <a:rPr lang="en-US" b="1" dirty="0"/>
              <a:t>lightweight, efficient, and easy to maintain</a:t>
            </a:r>
            <a:r>
              <a:rPr lang="en-US" dirty="0"/>
              <a:t>, even without an external database.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927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C011-BC8F-1458-53B4-12D064BED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220" y="54310"/>
            <a:ext cx="10353763" cy="629181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E54E0B-2E16-33A8-B1A5-402791C893D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14401" y="499339"/>
            <a:ext cx="100584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Phase: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The user (student, faculty, or admin) logs in using their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Display: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After login,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menu-driven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appears with options like Add Books, Search Books, Borrow, Return, Feedback,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Management: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Admin or authorized users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VIT Library books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Each book is stored 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details like title, author, and 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Borrow and Return: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Users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borrow books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the system records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borrow 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due 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If the book is returned late,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penalty amount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calculated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System: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Users can give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suggestions that are stored for the admin to review.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Operations: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The admin can manage all user activities, view borrow history, and extend due dates if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Storage: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All records (books, users, borrow history, and feedback) are saved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files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persistence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data even after the program is closed.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056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53FB-8FA5-1F87-556E-8C0EE9FD1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2363"/>
            <a:ext cx="10353762" cy="785091"/>
          </a:xfrm>
        </p:spPr>
        <p:txBody>
          <a:bodyPr/>
          <a:lstStyle/>
          <a:p>
            <a:r>
              <a:rPr lang="en-US" dirty="0"/>
              <a:t>LOGIN PAGE</a:t>
            </a:r>
            <a:endParaRPr lang="en-AU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3FF4B4-33E0-E7BE-6EC0-0088C8B2A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66" y="1263432"/>
            <a:ext cx="7690867" cy="469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265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450B-7340-26F3-F580-4163117B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563418"/>
            <a:ext cx="10353762" cy="1257300"/>
          </a:xfrm>
        </p:spPr>
        <p:txBody>
          <a:bodyPr/>
          <a:lstStyle/>
          <a:p>
            <a:r>
              <a:rPr lang="en-US" dirty="0"/>
              <a:t>SEARCH ONLINE BOOKS</a:t>
            </a:r>
            <a:endParaRPr lang="en-AU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AEB2C7-5BB7-6E86-D649-CF6751F6E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893" y="1637088"/>
            <a:ext cx="6992213" cy="491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644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26E7-F06D-89DB-2819-0B631CFA7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DASHBOARD</a:t>
            </a:r>
            <a:endParaRPr lang="en-AU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CB21C6-DF17-13B7-8AF4-C15525E8D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605" y="2142835"/>
            <a:ext cx="9046790" cy="431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07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110AF-E27C-A143-CCB0-729E4907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BOOKS</a:t>
            </a:r>
            <a:endParaRPr lang="en-AU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03A77A-1E74-B59C-0FAC-0AF0C85C0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423" y="1866900"/>
            <a:ext cx="7242506" cy="456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53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A416-E023-B8DA-A910-35B1D762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  <a:endParaRPr lang="en-AU" dirty="0"/>
          </a:p>
        </p:txBody>
      </p:sp>
      <p:pic>
        <p:nvPicPr>
          <p:cNvPr id="6" name="Picture 5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50FB5594-B5A2-F0B5-FE54-84B2FC206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653" y="2422813"/>
            <a:ext cx="8145923" cy="348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43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0378-6691-871F-E880-C026A4A2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BOOKS</a:t>
            </a:r>
            <a:endParaRPr lang="en-AU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C9EA1C-50FA-5731-EC2D-E2F63ABD4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906" y="1866900"/>
            <a:ext cx="4907539" cy="466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550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5175-E2F3-2BBC-EF3B-B1AC95106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5F0D502-58D3-08A4-61A4-F1079E6F7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163" y="2377788"/>
            <a:ext cx="591502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35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BF20-8759-80ED-A9AE-C6E5CFA4C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384087"/>
            <a:ext cx="9440034" cy="678096"/>
          </a:xfrm>
        </p:spPr>
        <p:txBody>
          <a:bodyPr>
            <a:normAutofit fontScale="90000"/>
          </a:bodyPr>
          <a:lstStyle/>
          <a:p>
            <a:r>
              <a:rPr lang="en-US" dirty="0"/>
              <a:t>TEAM MEMBERS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5AE0E-DC0A-4D88-776A-FE7708FF3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1570182"/>
            <a:ext cx="9440034" cy="471978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RAGESH.E(25BBS0155)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LOKESH.D(25BCE2929)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SURYALALANA.S(25BCE2910)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HARIHARAAN MYTHILI BALASUBRAMANIAN(25BBS0150)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ISUKAPALLI VENKATA RAMA SAI MAITHREYA(25BCE2715)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89829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{D3C265F2-AE50-42EB-9988-2443BD27C863}tf12214701_win32</Template>
  <TotalTime>1833</TotalTime>
  <Words>804</Words>
  <Application>Microsoft Office PowerPoint</Application>
  <PresentationFormat>Widescreen</PresentationFormat>
  <Paragraphs>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Goudy Old Style</vt:lpstr>
      <vt:lpstr>Wingdings 2</vt:lpstr>
      <vt:lpstr>SlateVTI</vt:lpstr>
      <vt:lpstr>LIBRARY MANAGEMENT SYSTEM</vt:lpstr>
      <vt:lpstr>TEAM CONTRIBUTION</vt:lpstr>
      <vt:lpstr>PowerPoint Presentation</vt:lpstr>
      <vt:lpstr>INTRODUCTION</vt:lpstr>
      <vt:lpstr>Tools and Technologies Used </vt:lpstr>
      <vt:lpstr>FLOW CHART </vt:lpstr>
      <vt:lpstr>PowerPoint Presentation</vt:lpstr>
      <vt:lpstr>Working / Implementation</vt:lpstr>
      <vt:lpstr>PowerPoint Presentation</vt:lpstr>
      <vt:lpstr>LOGIN PAGE</vt:lpstr>
      <vt:lpstr>SEARCH ONLINE BOOKS</vt:lpstr>
      <vt:lpstr>ADMIN DASHBOARD</vt:lpstr>
      <vt:lpstr>MANAGE BOOKS</vt:lpstr>
      <vt:lpstr>FEEDBACK</vt:lpstr>
      <vt:lpstr>RETURNING BOOKS</vt:lpstr>
      <vt:lpstr>PowerPoint Presentation</vt:lpstr>
      <vt:lpstr>TEAM MEMBERS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Hariharaan Mythili Balasubramanian</dc:creator>
  <cp:lastModifiedBy>Hariharaan Mythili Balasubramanian</cp:lastModifiedBy>
  <cp:revision>3</cp:revision>
  <dcterms:created xsi:type="dcterms:W3CDTF">2025-11-05T11:43:33Z</dcterms:created>
  <dcterms:modified xsi:type="dcterms:W3CDTF">2025-11-08T15:35:03Z</dcterms:modified>
</cp:coreProperties>
</file>